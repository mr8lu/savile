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16" d="100"/>
          <a:sy n="116" d="100"/>
        </p:scale>
        <p:origin x="86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6459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Arial"/>
              </a:defRPr>
            </a:pPr>
            <a:r>
              <a:t>DOTSP HACKATHON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FFFFFF"/>
                </a:solidFill>
                <a:latin typeface="Arial"/>
              </a:defRPr>
            </a:pPr>
            <a:r>
              <a:t>MERCE</a:t>
            </a:r>
            <a:r>
              <a:rPr lang="en-US"/>
              <a:t>R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Arial"/>
              </a:defRPr>
            </a:pPr>
            <a:r>
              <a:t>Managed Enterprise Router for Context, Evaluation, and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A1A1AA"/>
                </a:solidFill>
                <a:latin typeface="Arial"/>
              </a:defRPr>
            </a:pPr>
            <a:r>
              <a:t>Enterprise PromptOps &amp; IAM Gateway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Arial"/>
              </a:defRPr>
            </a:pPr>
            <a:r>
              <a:t>From Dark Matter to Sovereign Intelligence.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rial"/>
              </a:defRPr>
            </a:pPr>
            <a:r>
              <a:t>The Ghost in the Machine.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1A1AA"/>
                </a:solidFill>
                <a:latin typeface="Arial"/>
              </a:defRPr>
            </a:pPr>
            <a:r>
              <a:t>Intelligence Anarchy is the New Technical Debt.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3200400" cy="320040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rtlCol="0" anchor="t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Prompt Drift</a:t>
            </a:r>
          </a:p>
          <a:p>
            <a:pPr>
              <a:defRPr sz="1000"/>
            </a:pPr>
            <a:endParaRPr/>
          </a:p>
          <a:p>
            <a:pPr>
              <a:defRPr sz="1400">
                <a:solidFill>
                  <a:srgbClr val="A1A1AA"/>
                </a:solidFill>
                <a:latin typeface="Arial"/>
              </a:defRPr>
            </a:pPr>
            <a:r>
              <a:t>Brilliant prompts are lost in chat histories or hardcoded into isolated scripts without version control.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2743200"/>
            <a:ext cx="3200400" cy="320040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rtlCol="0" anchor="t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Blind Spending</a:t>
            </a:r>
          </a:p>
          <a:p>
            <a:pPr>
              <a:defRPr sz="1000"/>
            </a:pPr>
            <a:endParaRPr/>
          </a:p>
          <a:p>
            <a:pPr>
              <a:defRPr sz="1400">
                <a:solidFill>
                  <a:srgbClr val="A1A1AA"/>
                </a:solidFill>
                <a:latin typeface="Arial"/>
              </a:defRPr>
            </a:pPr>
            <a:r>
              <a:t>No visibility into which organizational prompts are cost-effective or wastefully token-heavy.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2743200"/>
            <a:ext cx="3200400" cy="320040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rtlCol="0" anchor="t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Shadow AI</a:t>
            </a:r>
          </a:p>
          <a:p>
            <a:pPr>
              <a:defRPr sz="1000"/>
            </a:pPr>
            <a:endParaRPr/>
          </a:p>
          <a:p>
            <a:pPr>
              <a:defRPr sz="1400">
                <a:solidFill>
                  <a:srgbClr val="A1A1AA"/>
                </a:solidFill>
                <a:latin typeface="Arial"/>
              </a:defRPr>
            </a:pPr>
            <a:r>
              <a:t>Unverified logic bypassing InfoSec, creating massive enterprise compliance vulnerabilities.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rial"/>
              </a:defRPr>
            </a:pPr>
            <a:r>
              <a:t>The Enterprise Logic Router.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1A1AA"/>
                </a:solidFill>
                <a:latin typeface="Arial"/>
              </a:defRPr>
            </a:pPr>
            <a:r>
              <a:t>Treating AI logic as first-class, version-controlled code artifacts.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rial"/>
              </a:defRPr>
            </a:pPr>
            <a:r>
              <a:t>01  Git Backend: Sovereign &amp; Auditable.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rial"/>
              </a:defRPr>
            </a:pPr>
            <a:r>
              <a:t>02  Web UI: Democratized for BAs &amp; PMs.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rial"/>
              </a:defRPr>
            </a:pPr>
            <a:r>
              <a:t>03  MCP Gateway: Agnostic IDE Integration.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4846320" cy="411480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rtlCol="0" anchor="t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Global Logic Vault (Git)</a:t>
            </a:r>
          </a:p>
          <a:p>
            <a:pPr>
              <a:defRPr sz="1000"/>
            </a:pPr>
            <a:endParaRPr/>
          </a:p>
          <a:p>
            <a:pPr>
              <a:defRPr sz="1400">
                <a:solidFill>
                  <a:srgbClr val="A1A1AA"/>
                </a:solidFill>
                <a:latin typeface="Arial"/>
              </a:defRPr>
            </a:pPr>
            <a:r>
              <a:t>---</a:t>
            </a:r>
            <a:br/>
            <a:r>
              <a:t>name: "architect"</a:t>
            </a:r>
            <a:br/>
            <a:r>
              <a:t>version: "1.2.0"</a:t>
            </a:r>
            <a:br/>
            <a:r>
              <a:t>approved_by: "iam-admin"</a:t>
            </a:r>
            <a:br/>
            <a:r>
              <a:t>eval_score: 98.5</a:t>
            </a:r>
            <a:br/>
            <a:r>
              <a:t>---</a:t>
            </a:r>
            <a:br/>
            <a:br/>
            <a:r>
              <a:t># Architect</a:t>
            </a:r>
            <a:br/>
            <a:br/>
            <a:r>
              <a:t>You are a senior enterprise architect...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Using OpenAI to Govern OpenAI.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1A1AA"/>
                </a:solidFill>
                <a:latin typeface="Arial"/>
              </a:defRPr>
            </a:pPr>
            <a:r>
              <a:t>"The Crucible" uses GPT-4o to mathematically evaluate, gate, and rank our intelligence.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2743200"/>
            <a:ext cx="4114800" cy="320040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rtlCol="0" anchor="t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CI/CD for Prompts</a:t>
            </a:r>
          </a:p>
          <a:p>
            <a:pPr>
              <a:defRPr sz="1000"/>
            </a:pPr>
            <a:endParaRPr/>
          </a:p>
          <a:p>
            <a:pPr>
              <a:defRPr sz="1400">
                <a:solidFill>
                  <a:srgbClr val="A1A1AA"/>
                </a:solidFill>
                <a:latin typeface="Arial"/>
              </a:defRPr>
            </a:pPr>
            <a:r>
              <a:t>Before a prompt is pushed to the Global Logic Vault, GPT-4o acts as the Auditor. It grades the prompt against strict safety and accuracy assertions. If it hallucinates or drifts, the commit is rejected.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743200"/>
            <a:ext cx="4114800" cy="320040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rtlCol="0" anchor="t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The Ranking Engine</a:t>
            </a:r>
          </a:p>
          <a:p>
            <a:pPr>
              <a:defRPr sz="1000"/>
            </a:pPr>
            <a:endParaRPr/>
          </a:p>
          <a:p>
            <a:pPr>
              <a:defRPr sz="1400">
                <a:solidFill>
                  <a:srgbClr val="A1A1AA"/>
                </a:solidFill>
                <a:latin typeface="Arial"/>
              </a:defRPr>
            </a:pPr>
            <a:r>
              <a:t>Ranks enterprise prompts based on:</a:t>
            </a:r>
            <a:br/>
            <a:br/>
            <a:r>
              <a:t>• Usage Frequency</a:t>
            </a:r>
            <a:br/>
            <a:r>
              <a:t>• Cost-Effectiveness (FinOps tracking)</a:t>
            </a:r>
            <a:br/>
            <a:r>
              <a:t>• Accuracy &amp; Efficacy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rial"/>
              </a:defRPr>
            </a:pPr>
            <a:r>
              <a:t>The Seatbelt for Agentic AI.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1A1AA"/>
                </a:solidFill>
                <a:latin typeface="Arial"/>
              </a:defRPr>
            </a:pPr>
            <a:r>
              <a:t>An internal Enterprise MCP Server integrated with SSO/IAM.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1A1AA"/>
                </a:solidFill>
                <a:latin typeface="Arial"/>
              </a:defRPr>
            </a:pPr>
            <a:r>
              <a:t>Agents only see what the human is authorized to see. We provide granular, role-based access control (RBAC) over what the AI can execute.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828800"/>
            <a:ext cx="4846320" cy="182880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rtlCol="0" anchor="t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L1: Junior Developer</a:t>
            </a:r>
          </a:p>
          <a:p>
            <a:pPr>
              <a:defRPr sz="1000"/>
            </a:pPr>
            <a:endParaRPr/>
          </a:p>
          <a:p>
            <a:pPr>
              <a:defRPr sz="1400">
                <a:solidFill>
                  <a:srgbClr val="A1A1AA"/>
                </a:solidFill>
                <a:latin typeface="Arial"/>
              </a:defRPr>
            </a:pPr>
            <a:r>
              <a:t>Access:</a:t>
            </a:r>
            <a:br/>
            <a:r>
              <a:t>• /code-review</a:t>
            </a:r>
            <a:br/>
            <a:r>
              <a:t>• Internal Repo-Read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4114800"/>
            <a:ext cx="4846320" cy="182880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rtlCol="0" anchor="t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L3: Senior Architect</a:t>
            </a:r>
          </a:p>
          <a:p>
            <a:pPr>
              <a:defRPr sz="1000"/>
            </a:pPr>
            <a:endParaRPr/>
          </a:p>
          <a:p>
            <a:pPr>
              <a:defRPr sz="1400">
                <a:solidFill>
                  <a:srgbClr val="A1A1AA"/>
                </a:solidFill>
                <a:latin typeface="Arial"/>
              </a:defRPr>
            </a:pPr>
            <a:r>
              <a:t>Access:</a:t>
            </a:r>
            <a:br/>
            <a:r>
              <a:t>• /system-design</a:t>
            </a:r>
            <a:br/>
            <a:r>
              <a:t>• AWS-Deployment Tools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Arial"/>
              </a:defRPr>
            </a:pPr>
            <a:r>
              <a:t>MERCER Web Portal.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1A1AA"/>
                </a:solidFill>
                <a:latin typeface="Arial"/>
              </a:defRPr>
            </a:pPr>
            <a:r>
              <a:t>Consumer-grade UI for Enterprise-grade Intelligence.</a:t>
            </a:r>
          </a:p>
        </p:txBody>
      </p:sp>
      <p:pic>
        <p:nvPicPr>
          <p:cNvPr id="4" name="Picture 3" descr="dashboard-m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645920"/>
            <a:ext cx="8869680" cy="49891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Arial"/>
              </a:defRPr>
            </a:pPr>
            <a:r>
              <a:t>Enterprise Architecture.</a:t>
            </a:r>
          </a:p>
        </p:txBody>
      </p:sp>
      <p:pic>
        <p:nvPicPr>
          <p:cNvPr id="3" name="Picture 2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8503920" cy="47834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Arial"/>
              </a:defRPr>
            </a:pPr>
            <a:r>
              <a:t>Own Your Intelligence.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1A1AA"/>
                </a:solidFill>
                <a:latin typeface="Arial"/>
              </a:defRPr>
            </a:pPr>
            <a:r>
              <a:t>We version our code with surgical precision. It is time we do the same with our logic.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0624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0B981"/>
                </a:solidFill>
                <a:latin typeface="Arial"/>
              </a:defRPr>
            </a:pPr>
            <a:r>
              <a:t>MERCER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66344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1A1AA"/>
                </a:solidFill>
                <a:latin typeface="Arial"/>
              </a:defRPr>
            </a:pPr>
            <a:r>
              <a:t>Managed Enterprise Router for Context, Evaluation, and Roles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388</Words>
  <Application>Microsoft Macintosh PowerPoint</Application>
  <PresentationFormat>Widescreen</PresentationFormat>
  <Paragraphs>48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Pan, Daniel</cp:lastModifiedBy>
  <cp:revision>2</cp:revision>
  <dcterms:created xsi:type="dcterms:W3CDTF">2013-01-27T09:14:16Z</dcterms:created>
  <dcterms:modified xsi:type="dcterms:W3CDTF">2026-04-13T20:46:58Z</dcterms:modified>
  <cp:category/>
</cp:coreProperties>
</file>