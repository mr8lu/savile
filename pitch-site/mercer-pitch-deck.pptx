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666"/>
  </p:normalViewPr>
  <p:slideViewPr>
    <p:cSldViewPr snapToGrid="0" snapToObjects="1">
      <p:cViewPr varScale="1">
        <p:scale>
          <a:sx n="137" d="100"/>
          <a:sy n="137" d="100"/>
        </p:scale>
        <p:origin x="576" y="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DOTSP HACKATHON | TEAM MERCER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18181B"/>
                </a:solidFill>
                <a:latin typeface="Arial"/>
              </a:defRPr>
            </a:pPr>
            <a:r>
              <a:rPr b="1" i="1" dirty="0">
                <a:latin typeface="Avenir Next" panose="020B0503020202020204" pitchFamily="34" charset="0"/>
                <a:cs typeface="FUTURA MEDIUM" panose="020B0602020204020303" pitchFamily="34" charset="-79"/>
              </a:rPr>
              <a:t>MERCER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28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Managed Enterprise Router for Context, Evaluation, and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628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8181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From Dark Matter to Sovereign Intelligence.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3628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8181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The Ghost in the Machine.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2525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Intelligence Anarchy is the New Technical Debt.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32004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t"/>
          <a:lstStyle/>
          <a:p>
            <a:pPr algn="ctr">
              <a:defRPr sz="2000" b="1">
                <a:solidFill>
                  <a:srgbClr val="18181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Prompt Drift</a:t>
            </a:r>
          </a:p>
          <a:p>
            <a:pPr>
              <a:defRPr sz="1000"/>
            </a:pPr>
            <a:endParaRPr dirty="0"/>
          </a:p>
          <a:p>
            <a:pPr>
              <a:defRPr sz="1400">
                <a:solidFill>
                  <a:srgbClr val="52525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Brilliant prompts are lost in chat histories or hardcoded into isolated scripts without version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743200"/>
            <a:ext cx="32004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t"/>
          <a:lstStyle/>
          <a:p>
            <a:pPr algn="ctr">
              <a:defRPr sz="2000" b="1">
                <a:solidFill>
                  <a:srgbClr val="18181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Blind Spending</a:t>
            </a:r>
          </a:p>
          <a:p>
            <a:pPr>
              <a:defRPr sz="1000"/>
            </a:pPr>
            <a:endParaRPr dirty="0"/>
          </a:p>
          <a:p>
            <a:pPr>
              <a:defRPr sz="1400">
                <a:solidFill>
                  <a:srgbClr val="52525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No visibility into which organizational prompts are cost-effective or wastefully token-heavy.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743200"/>
            <a:ext cx="32004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t"/>
          <a:lstStyle/>
          <a:p>
            <a:pPr algn="ctr">
              <a:defRPr sz="2000" b="1">
                <a:solidFill>
                  <a:srgbClr val="18181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Shadow AI</a:t>
            </a:r>
          </a:p>
          <a:p>
            <a:pPr>
              <a:defRPr sz="1000"/>
            </a:pPr>
            <a:endParaRPr dirty="0"/>
          </a:p>
          <a:p>
            <a:pPr>
              <a:defRPr sz="1400">
                <a:solidFill>
                  <a:srgbClr val="52525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Unverified logic bypassing InfoSec, creating massive enterprise compliance vulnerabilities.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3893" y="721605"/>
            <a:ext cx="78219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8181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The Enterprise Logic Router.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3894" y="1476260"/>
            <a:ext cx="90448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2525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Treating AI logic as first-class, version-controlled code artifacts.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28361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600" b="0">
                <a:solidFill>
                  <a:srgbClr val="18181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Git Backend: Sovereign &amp;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85561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600" b="0">
                <a:solidFill>
                  <a:srgbClr val="18181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Web UI: Democratized for BAs &amp; PMs.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42761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600" b="0">
                <a:solidFill>
                  <a:srgbClr val="18181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MCP Gateway: Agnostic IDE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45716" y="2302525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t"/>
          <a:lstStyle/>
          <a:p>
            <a:pPr algn="ctr">
              <a:defRPr sz="2000" b="1">
                <a:solidFill>
                  <a:srgbClr val="18181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Global Logic Vault (Git)</a:t>
            </a:r>
          </a:p>
          <a:p>
            <a:pPr>
              <a:defRPr sz="1000"/>
            </a:pPr>
            <a:endParaRPr dirty="0"/>
          </a:p>
          <a:p>
            <a:pPr>
              <a:defRPr sz="1400">
                <a:solidFill>
                  <a:srgbClr val="52525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---</a:t>
            </a:r>
            <a:br>
              <a:rPr dirty="0">
                <a:latin typeface="Avenir Next" panose="020B0503020202020204" pitchFamily="34" charset="0"/>
              </a:rPr>
            </a:br>
            <a:r>
              <a:rPr dirty="0">
                <a:latin typeface="Avenir Next" panose="020B0503020202020204" pitchFamily="34" charset="0"/>
              </a:rPr>
              <a:t>name: "architect"</a:t>
            </a:r>
            <a:br>
              <a:rPr dirty="0">
                <a:latin typeface="Avenir Next" panose="020B0503020202020204" pitchFamily="34" charset="0"/>
              </a:rPr>
            </a:br>
            <a:r>
              <a:rPr dirty="0">
                <a:latin typeface="Avenir Next" panose="020B0503020202020204" pitchFamily="34" charset="0"/>
              </a:rPr>
              <a:t>version: "1.2.0"</a:t>
            </a:r>
            <a:br>
              <a:rPr dirty="0">
                <a:latin typeface="Avenir Next" panose="020B0503020202020204" pitchFamily="34" charset="0"/>
              </a:rPr>
            </a:br>
            <a:r>
              <a:rPr dirty="0" err="1">
                <a:latin typeface="Avenir Next" panose="020B0503020202020204" pitchFamily="34" charset="0"/>
              </a:rPr>
              <a:t>approved_by</a:t>
            </a:r>
            <a:r>
              <a:rPr dirty="0">
                <a:latin typeface="Avenir Next" panose="020B0503020202020204" pitchFamily="34" charset="0"/>
              </a:rPr>
              <a:t>: "</a:t>
            </a:r>
            <a:r>
              <a:rPr dirty="0" err="1">
                <a:latin typeface="Avenir Next" panose="020B0503020202020204" pitchFamily="34" charset="0"/>
              </a:rPr>
              <a:t>iam</a:t>
            </a:r>
            <a:r>
              <a:rPr dirty="0">
                <a:latin typeface="Avenir Next" panose="020B0503020202020204" pitchFamily="34" charset="0"/>
              </a:rPr>
              <a:t>-admin"</a:t>
            </a:r>
            <a:br>
              <a:rPr dirty="0">
                <a:latin typeface="Avenir Next" panose="020B0503020202020204" pitchFamily="34" charset="0"/>
              </a:rPr>
            </a:br>
            <a:r>
              <a:rPr dirty="0" err="1">
                <a:latin typeface="Avenir Next" panose="020B0503020202020204" pitchFamily="34" charset="0"/>
              </a:rPr>
              <a:t>eval_score</a:t>
            </a:r>
            <a:r>
              <a:rPr dirty="0">
                <a:latin typeface="Avenir Next" panose="020B0503020202020204" pitchFamily="34" charset="0"/>
              </a:rPr>
              <a:t>: 98.5</a:t>
            </a:r>
            <a:br>
              <a:rPr dirty="0">
                <a:latin typeface="Avenir Next" panose="020B0503020202020204" pitchFamily="34" charset="0"/>
              </a:rPr>
            </a:br>
            <a:r>
              <a:rPr dirty="0">
                <a:latin typeface="Avenir Next" panose="020B0503020202020204" pitchFamily="34" charset="0"/>
              </a:rPr>
              <a:t>---</a:t>
            </a:r>
            <a:br>
              <a:rPr dirty="0">
                <a:latin typeface="Avenir Next" panose="020B0503020202020204" pitchFamily="34" charset="0"/>
              </a:rPr>
            </a:br>
            <a:br>
              <a:rPr dirty="0">
                <a:latin typeface="Avenir Next" panose="020B0503020202020204" pitchFamily="34" charset="0"/>
              </a:rPr>
            </a:br>
            <a:r>
              <a:rPr dirty="0">
                <a:latin typeface="Avenir Next" panose="020B0503020202020204" pitchFamily="34" charset="0"/>
              </a:rPr>
              <a:t># Architect</a:t>
            </a:r>
            <a:br>
              <a:rPr dirty="0">
                <a:latin typeface="Avenir Next" panose="020B0503020202020204" pitchFamily="34" charset="0"/>
              </a:rPr>
            </a:br>
            <a:br>
              <a:rPr dirty="0">
                <a:latin typeface="Avenir Next" panose="020B0503020202020204" pitchFamily="34" charset="0"/>
              </a:rPr>
            </a:br>
            <a:r>
              <a:rPr dirty="0">
                <a:latin typeface="Avenir Next" panose="020B0503020202020204" pitchFamily="34" charset="0"/>
              </a:rPr>
              <a:t>You are a senior enterprise architect...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3628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8181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Using OpenAI to Govern OpenAI.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2525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"The Crucible" uses GPT-4o to mathematically evaluate, gate, and rank our intelligence.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41148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t"/>
          <a:lstStyle/>
          <a:p>
            <a:pPr algn="ctr">
              <a:defRPr sz="2000" b="1">
                <a:solidFill>
                  <a:srgbClr val="18181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CI/CD for Prompts</a:t>
            </a:r>
          </a:p>
          <a:p>
            <a:pPr>
              <a:defRPr sz="1000"/>
            </a:pPr>
            <a:endParaRPr dirty="0"/>
          </a:p>
          <a:p>
            <a:pPr>
              <a:defRPr sz="1400">
                <a:solidFill>
                  <a:srgbClr val="52525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Before a prompt is pushed to the Global Logic Vault, GPT-4o acts as the Auditor. It grades the prompt against strict safety and accuracy assertions. If it hallucinates or drifts, the commit is rejected.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743200"/>
            <a:ext cx="41148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t"/>
          <a:lstStyle/>
          <a:p>
            <a:pPr algn="ctr">
              <a:defRPr sz="2000" b="1">
                <a:solidFill>
                  <a:srgbClr val="18181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The Ranking Engine</a:t>
            </a:r>
          </a:p>
          <a:p>
            <a:pPr>
              <a:defRPr sz="1000"/>
            </a:pPr>
            <a:endParaRPr dirty="0"/>
          </a:p>
          <a:p>
            <a:pPr>
              <a:defRPr sz="1400">
                <a:solidFill>
                  <a:srgbClr val="52525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Ranks enterprise prompts based on:</a:t>
            </a:r>
            <a:br>
              <a:rPr dirty="0">
                <a:latin typeface="Avenir Next" panose="020B0503020202020204" pitchFamily="34" charset="0"/>
              </a:rPr>
            </a:br>
            <a:br>
              <a:rPr dirty="0">
                <a:latin typeface="Avenir Next" panose="020B0503020202020204" pitchFamily="34" charset="0"/>
              </a:rPr>
            </a:br>
            <a:r>
              <a:rPr dirty="0">
                <a:latin typeface="Avenir Next" panose="020B0503020202020204" pitchFamily="34" charset="0"/>
              </a:rPr>
              <a:t>• Usage Frequency</a:t>
            </a:r>
            <a:br>
              <a:rPr dirty="0">
                <a:latin typeface="Avenir Next" panose="020B0503020202020204" pitchFamily="34" charset="0"/>
              </a:rPr>
            </a:br>
            <a:r>
              <a:rPr dirty="0">
                <a:latin typeface="Avenir Next" panose="020B0503020202020204" pitchFamily="34" charset="0"/>
              </a:rPr>
              <a:t>• Cost-Effectiveness (FinOps tracking)</a:t>
            </a:r>
            <a:br>
              <a:rPr dirty="0">
                <a:latin typeface="Avenir Next" panose="020B0503020202020204" pitchFamily="34" charset="0"/>
              </a:rPr>
            </a:br>
            <a:r>
              <a:rPr dirty="0">
                <a:latin typeface="Avenir Next" panose="020B0503020202020204" pitchFamily="34" charset="0"/>
              </a:rPr>
              <a:t>• Accuracy &amp; Efficacy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7962" y="721604"/>
            <a:ext cx="83618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8181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The Seatbelt for Agentic AI.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7962" y="1454227"/>
            <a:ext cx="93202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2525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An internal Enterprise MCP Server integrated with SSO/IAM.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4135" y="5007555"/>
            <a:ext cx="74437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2525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Agents only see what the human is authorized to see. We provide granular, role-based access control (RBAC) over what the AI can execute.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0164" y="2503588"/>
            <a:ext cx="4846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t"/>
          <a:lstStyle/>
          <a:p>
            <a:pPr algn="ctr">
              <a:defRPr sz="2000" b="1">
                <a:solidFill>
                  <a:srgbClr val="18181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L1: Junior Developer</a:t>
            </a:r>
          </a:p>
          <a:p>
            <a:pPr>
              <a:defRPr sz="1000"/>
            </a:pPr>
            <a:endParaRPr dirty="0"/>
          </a:p>
          <a:p>
            <a:pPr>
              <a:defRPr sz="1400">
                <a:solidFill>
                  <a:srgbClr val="52525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Access:</a:t>
            </a:r>
            <a:br>
              <a:rPr dirty="0">
                <a:latin typeface="Avenir Next" panose="020B0503020202020204" pitchFamily="34" charset="0"/>
              </a:rPr>
            </a:br>
            <a:r>
              <a:rPr dirty="0">
                <a:latin typeface="Avenir Next" panose="020B0503020202020204" pitchFamily="34" charset="0"/>
              </a:rPr>
              <a:t>• /code-review</a:t>
            </a:r>
            <a:br>
              <a:rPr dirty="0">
                <a:latin typeface="Avenir Next" panose="020B0503020202020204" pitchFamily="34" charset="0"/>
              </a:rPr>
            </a:br>
            <a:r>
              <a:rPr dirty="0">
                <a:latin typeface="Avenir Next" panose="020B0503020202020204" pitchFamily="34" charset="0"/>
              </a:rPr>
              <a:t>• Internal Repo-Read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99105" y="2503588"/>
            <a:ext cx="4846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t"/>
          <a:lstStyle/>
          <a:p>
            <a:pPr algn="ctr">
              <a:defRPr sz="2000" b="1">
                <a:solidFill>
                  <a:srgbClr val="18181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L3: Senior Architect</a:t>
            </a:r>
          </a:p>
          <a:p>
            <a:pPr>
              <a:defRPr sz="1000"/>
            </a:pPr>
            <a:endParaRPr dirty="0"/>
          </a:p>
          <a:p>
            <a:pPr>
              <a:defRPr sz="1400">
                <a:solidFill>
                  <a:srgbClr val="52525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Access:</a:t>
            </a:r>
            <a:br>
              <a:rPr dirty="0">
                <a:latin typeface="Avenir Next" panose="020B0503020202020204" pitchFamily="34" charset="0"/>
              </a:rPr>
            </a:br>
            <a:r>
              <a:rPr dirty="0">
                <a:latin typeface="Avenir Next" panose="020B0503020202020204" pitchFamily="34" charset="0"/>
              </a:rPr>
              <a:t>• /system-design</a:t>
            </a:r>
            <a:br>
              <a:rPr dirty="0">
                <a:latin typeface="Avenir Next" panose="020B0503020202020204" pitchFamily="34" charset="0"/>
              </a:rPr>
            </a:br>
            <a:r>
              <a:rPr dirty="0">
                <a:latin typeface="Avenir Next" panose="020B0503020202020204" pitchFamily="34" charset="0"/>
              </a:rPr>
              <a:t>• AWS-Deployment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8181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MERCER Web Portal.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2525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Consumer-grade UI for Enterprise-grade Intelligence.</a:t>
            </a:r>
          </a:p>
        </p:txBody>
      </p:sp>
      <p:pic>
        <p:nvPicPr>
          <p:cNvPr id="4" name="Picture 3" descr="dashboard-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645920"/>
            <a:ext cx="8869680" cy="49891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D9D36D6-2AC5-46A1-A849-4C82D5264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444717" y="552182"/>
            <a:ext cx="5998840" cy="3343135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18181B"/>
                </a:solidFill>
                <a:latin typeface="Arial"/>
              </a:defRPr>
            </a:pPr>
            <a:r>
              <a:rPr lang="en-US" sz="5200" dirty="0">
                <a:latin typeface="Avenir Next" panose="020B0503020202020204" pitchFamily="34" charset="0"/>
                <a:ea typeface="+mj-ea"/>
                <a:cs typeface="+mj-cs"/>
              </a:rPr>
              <a:t>Enterprise Architecture.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B67B37-7C39-4EE5-CB15-E9114E703A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46"/>
          <a:stretch>
            <a:fillRect/>
          </a:stretch>
        </p:blipFill>
        <p:spPr>
          <a:xfrm>
            <a:off x="1089782" y="10"/>
            <a:ext cx="4992985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18181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Own Your Intelligence.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2525B"/>
                </a:solidFill>
                <a:latin typeface="Arial"/>
              </a:defRPr>
            </a:pPr>
            <a:r>
              <a:rPr dirty="0">
                <a:latin typeface="Avenir Next" panose="020B0503020202020204" pitchFamily="34" charset="0"/>
              </a:rPr>
              <a:t>We version our code with surgical precision. It is time we do the same with our logic.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74875"/>
            <a:ext cx="103628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Arial"/>
              </a:defRPr>
            </a:pPr>
            <a:r>
              <a:rPr sz="2000" dirty="0">
                <a:latin typeface="Avenir Next" panose="020B0503020202020204" pitchFamily="34" charset="0"/>
              </a:rPr>
              <a:t>TEAM MERCER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32075"/>
            <a:ext cx="103628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2525B"/>
                </a:solidFill>
                <a:latin typeface="Arial"/>
              </a:defRPr>
            </a:pPr>
            <a:r>
              <a:rPr lang="en-US" dirty="0">
                <a:latin typeface="Avenir Next" panose="020B0503020202020204" pitchFamily="34" charset="0"/>
              </a:rPr>
              <a:t>(</a:t>
            </a:r>
            <a:r>
              <a:rPr dirty="0">
                <a:latin typeface="Avenir Next" panose="020B0503020202020204" pitchFamily="34" charset="0"/>
              </a:rPr>
              <a:t>Managed Enterprise Router for Context, Evaluation, and Roles</a:t>
            </a:r>
            <a:r>
              <a:rPr lang="en-US" dirty="0">
                <a:latin typeface="Avenir Next" panose="020B0503020202020204" pitchFamily="34" charset="0"/>
              </a:rPr>
              <a:t>)</a:t>
            </a:r>
            <a:endParaRPr dirty="0">
              <a:latin typeface="Avenir Next" panose="020B0503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385</Words>
  <Application>Microsoft Macintosh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Avenir Next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Pan, Daniel</cp:lastModifiedBy>
  <cp:revision>3</cp:revision>
  <dcterms:created xsi:type="dcterms:W3CDTF">2013-01-27T09:14:16Z</dcterms:created>
  <dcterms:modified xsi:type="dcterms:W3CDTF">2026-04-13T21:27:06Z</dcterms:modified>
  <cp:category/>
</cp:coreProperties>
</file>